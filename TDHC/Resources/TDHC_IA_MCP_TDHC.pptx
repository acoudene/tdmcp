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3"/>
  </p:notesMasterIdLst>
  <p:sldIdLst>
    <p:sldId id="256" r:id="rId5"/>
    <p:sldId id="273" r:id="rId6"/>
    <p:sldId id="271" r:id="rId7"/>
    <p:sldId id="257" r:id="rId8"/>
    <p:sldId id="270" r:id="rId9"/>
    <p:sldId id="258" r:id="rId10"/>
    <p:sldId id="268" r:id="rId11"/>
    <p:sldId id="260" r:id="rId12"/>
    <p:sldId id="261" r:id="rId13"/>
    <p:sldId id="262" r:id="rId14"/>
    <p:sldId id="263" r:id="rId15"/>
    <p:sldId id="264" r:id="rId16"/>
    <p:sldId id="265" r:id="rId17"/>
    <p:sldId id="269" r:id="rId18"/>
    <p:sldId id="266" r:id="rId19"/>
    <p:sldId id="267" r:id="rId20"/>
    <p:sldId id="272" r:id="rId21"/>
    <p:sldId id="274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689715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1CD42-F522-406F-762F-73452D0CB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CA21B5-33E9-39BF-F601-B6ADFD0747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B17406-16E9-3DC0-D3D3-C9B637AC0F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DAE6D6-CC2A-6852-A089-02C670E77E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55329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C32E0-C4A1-8608-9FD4-74FF09599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9AA094-3209-C5BD-F4D7-72E47DDF7B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4E6673-1E8B-605C-34C1-FCD2DC1F1C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D9C2E3-B56F-BE6D-024A-581A17E859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6155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- https://raw.githubusercontent.com/acoudene/TDMCP/main/TDHC/Resources/LLM_IA_pilotant_TDHC.png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CE9D9-5119-5F10-4524-F81D5261D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76007A-20F7-5163-EC36-42DA12E169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E47263-C498-4608-3CBE-F0E8C506B2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- https://raw.githubusercontent.com/acoudene/TDMCP/main/TDHC/Resources/LLM_IA_pilotant_TDHC.png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2E046B-380A-5E93-E4FB-C04C57B202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58804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B3A1C6-0DA3-F5DA-329E-A054C875A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0DB89B-37D3-7215-D489-919B9A83F4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B361C7-A80C-B949-8F4C-C6959E819B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36BA1C-073F-19B2-E9F2-D3D3D68325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7783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https://raw.githubusercontent.com/acoudene/TDMCP/main/TDHC/Resources/LLM_IA_pilotant_TDHC.png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https://raw.githubusercontent.com/acoudene/TDMCP/main/TDHC/Resources/LLM_IA_pilotant_TDHC_Full.png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- https://raw.githubusercontent.com/acoudene/TDMCP/main/TDHC/Resources/PatientDOEJohn.jpg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03225-CCC6-C4D6-123A-789490197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4E3695-3A8C-7E87-BCFD-AFA478FB9C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499125-DD8B-5553-C95C-D2D611B8F9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6D4CEF-84E5-156A-CB12-88F18910CE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21571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8A2AF-F6E5-69BE-35BD-71845ADBC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240870-D099-382A-3CBD-EF60C8991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C2616A-3238-4BB7-3555-F0B853BEA4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- https://raw.githubusercontent.com/acoudene/TDMCP/main/TDHC/Resources/PatientDOEJohn.jpg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23FDAA-E15C-5C95-E7EA-4E660E167E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9965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7175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FB0D5314-7E87-4C14-64BC-AAE744E7B7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52272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37699" y="2477708"/>
            <a:ext cx="465739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x</a:t>
            </a:r>
            <a:r>
              <a:rPr sz="5400" b="1" dirty="0">
                <a:solidFill>
                  <a:srgbClr val="1F3B5B"/>
                </a:solidFill>
                <a:latin typeface="Arial"/>
              </a:rPr>
              <a:t> </a:t>
            </a:r>
            <a:r>
              <a:rPr sz="6000" b="1" dirty="0">
                <a:solidFill>
                  <a:srgbClr val="1F3B5B"/>
                </a:solidFill>
                <a:latin typeface="Arial"/>
              </a:rPr>
              <a:t>Agents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66363" y="5547665"/>
            <a:ext cx="2238112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dirty="0">
                <a:latin typeface="Arial"/>
              </a:rPr>
              <a:t>Anthony Coudène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20841" y="5865361"/>
            <a:ext cx="98296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dirty="0">
                <a:latin typeface="Arial"/>
              </a:rPr>
              <a:t>23/02/26</a:t>
            </a:r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B86B6C89-009A-D0EB-92A2-C5945CCBB9C7}"/>
              </a:ext>
            </a:extLst>
          </p:cNvPr>
          <p:cNvSpPr/>
          <p:nvPr/>
        </p:nvSpPr>
        <p:spPr>
          <a:xfrm>
            <a:off x="8942147" y="6400273"/>
            <a:ext cx="324985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https://github.com/</a:t>
            </a: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acoudene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/TDMCP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F62A6-EAC6-172C-7126-0EA50C0BD5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8C67FD1-72ED-148B-3186-2834E458D877}"/>
              </a:ext>
            </a:extLst>
          </p:cNvPr>
          <p:cNvSpPr/>
          <p:nvPr/>
        </p:nvSpPr>
        <p:spPr>
          <a:xfrm>
            <a:off x="-1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F8A7A7E-8C41-2829-AEFE-8B176CEA55F4}"/>
              </a:ext>
            </a:extLst>
          </p:cNvPr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6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D438827-60F9-79D6-8469-41A79AD466F1}"/>
              </a:ext>
            </a:extLst>
          </p:cNvPr>
          <p:cNvSpPr/>
          <p:nvPr/>
        </p:nvSpPr>
        <p:spPr>
          <a:xfrm>
            <a:off x="731520" y="27432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600" dirty="0"/>
              <a:t>✨ </a:t>
            </a:r>
            <a:r>
              <a:rPr lang="en-US" sz="3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</a:t>
            </a: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intégrée de l’IA dans nos produits</a:t>
            </a:r>
            <a:endParaRPr lang="en-US" sz="3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974CB52-5A62-7CF8-3F6C-46D71DF9C945}"/>
              </a:ext>
            </a:extLst>
          </p:cNvPr>
          <p:cNvSpPr/>
          <p:nvPr/>
        </p:nvSpPr>
        <p:spPr>
          <a:xfrm>
            <a:off x="731518" y="144018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🎯 </a:t>
            </a:r>
            <a:r>
              <a:rPr lang="en-US" sz="2000" b="1" dirty="0" err="1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</a:t>
            </a:r>
            <a:endParaRPr lang="en-US" sz="2000" b="1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AB3E45D-D2AD-9007-EC00-A23B1F8E324D}"/>
              </a:ext>
            </a:extLst>
          </p:cNvPr>
          <p:cNvSpPr/>
          <p:nvPr/>
        </p:nvSpPr>
        <p:spPr>
          <a:xfrm>
            <a:off x="1005840" y="2057400"/>
            <a:ext cx="10180015" cy="2977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Illustrer des </a:t>
            </a:r>
            <a:r>
              <a:rPr lang="fr-FR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d’usage concrets </a:t>
            </a:r>
            <a:r>
              <a:rPr lang="fr-FR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développés sur nos produits.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1800" dirty="0">
              <a:solidFill>
                <a:srgbClr val="0F172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Démontrer l’intégration de </a:t>
            </a:r>
            <a:r>
              <a:rPr lang="fr-FR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applicatif avec l’IA</a:t>
            </a:r>
            <a:r>
              <a:rPr lang="fr-FR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avec peu ou pas de modifications.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1800" dirty="0">
              <a:solidFill>
                <a:srgbClr val="0F172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Présenter des </a:t>
            </a:r>
            <a:r>
              <a:rPr lang="fr-FR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d’usage complexes </a:t>
            </a:r>
            <a:r>
              <a:rPr lang="fr-FR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impliquant des workflows avancés.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1800" dirty="0">
              <a:solidFill>
                <a:srgbClr val="0F172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Mettre en évidence </a:t>
            </a:r>
            <a:r>
              <a:rPr lang="fr-FR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valeur ajoutée de l’IA sur nos données brutes</a:t>
            </a:r>
            <a:r>
              <a:rPr lang="fr-FR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dirty="0">
              <a:solidFill>
                <a:srgbClr val="0F172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Évaluer les </a:t>
            </a:r>
            <a:r>
              <a:rPr lang="fr-FR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risques </a:t>
            </a:r>
            <a:r>
              <a:rPr lang="fr-FR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enjeux de </a:t>
            </a:r>
            <a:r>
              <a:rPr lang="fr-FR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</a:t>
            </a:r>
            <a:r>
              <a:rPr lang="fr-FR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0937F31-D8BF-4E3A-5194-2FCB76EF0E39}"/>
              </a:ext>
            </a:extLst>
          </p:cNvPr>
          <p:cNvSpPr/>
          <p:nvPr/>
        </p:nvSpPr>
        <p:spPr>
          <a:xfrm>
            <a:off x="1005840" y="2606040"/>
            <a:ext cx="10180015" cy="3251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74320" indent="-274320">
              <a:buSzPct val="100000"/>
              <a:buChar char="•"/>
            </a:pPr>
            <a:endParaRPr lang="en-US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AF37F231-6DCA-5291-EACA-6E965EA7F473}"/>
              </a:ext>
            </a:extLst>
          </p:cNvPr>
          <p:cNvSpPr/>
          <p:nvPr/>
        </p:nvSpPr>
        <p:spPr>
          <a:xfrm>
            <a:off x="91440" y="645160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https://github.com/</a:t>
            </a: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acoudene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/TDMCP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9534661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AFC23-9885-469B-092C-D77C07842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6FFB241-7ADA-DDA1-DC50-A59D0068BCDC}"/>
              </a:ext>
            </a:extLst>
          </p:cNvPr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CE83BD9-A25B-F79E-BB3F-41C0310064AC}"/>
              </a:ext>
            </a:extLst>
          </p:cNvPr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6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FE9CCD9-ED11-1F78-79FB-CC19F4E7553F}"/>
              </a:ext>
            </a:extLst>
          </p:cNvPr>
          <p:cNvSpPr/>
          <p:nvPr/>
        </p:nvSpPr>
        <p:spPr>
          <a:xfrm>
            <a:off x="731520" y="27432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600" dirty="0"/>
              <a:t>📅 </a:t>
            </a: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</a:t>
            </a:r>
            <a:r>
              <a:rPr lang="en-US" sz="3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</a:t>
            </a:r>
            <a:endParaRPr lang="en-US" sz="34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3A838B3-5C0E-1AFB-C1B2-BBC0DE877041}"/>
              </a:ext>
            </a:extLst>
          </p:cNvPr>
          <p:cNvSpPr/>
          <p:nvPr/>
        </p:nvSpPr>
        <p:spPr>
          <a:xfrm>
            <a:off x="1005837" y="2080724"/>
            <a:ext cx="10180015" cy="397484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/>
            <a:r>
              <a:rPr lang="fr-FR" b="1" dirty="0"/>
              <a:t>🟢 Cas simple</a:t>
            </a:r>
          </a:p>
          <a:p>
            <a:pPr algn="just"/>
            <a:r>
              <a:rPr lang="fr-FR" dirty="0"/>
              <a:t>Récupération de données patient depuis TDHC.</a:t>
            </a:r>
          </a:p>
          <a:p>
            <a:pPr algn="just"/>
            <a:endParaRPr lang="fr-FR" b="1" dirty="0"/>
          </a:p>
          <a:p>
            <a:pPr algn="just"/>
            <a:endParaRPr lang="fr-FR" b="1" dirty="0"/>
          </a:p>
          <a:p>
            <a:pPr algn="just"/>
            <a:r>
              <a:rPr lang="fr-FR" b="1" dirty="0"/>
              <a:t>🟡 Cas intermédiaire</a:t>
            </a:r>
          </a:p>
          <a:p>
            <a:pPr algn="just"/>
            <a:r>
              <a:rPr lang="fr-FR" dirty="0"/>
              <a:t>Demande d’informations « déduites » ou enrichies par le LLM à partir des données disponibles.</a:t>
            </a:r>
          </a:p>
          <a:p>
            <a:pPr algn="just"/>
            <a:endParaRPr lang="fr-FR" b="1" dirty="0"/>
          </a:p>
          <a:p>
            <a:pPr algn="just"/>
            <a:endParaRPr lang="fr-FR" b="1" dirty="0"/>
          </a:p>
          <a:p>
            <a:pPr algn="just"/>
            <a:r>
              <a:rPr lang="fr-FR" b="1" dirty="0"/>
              <a:t>🔴 Cas complexe</a:t>
            </a:r>
          </a:p>
          <a:p>
            <a:pPr algn="just"/>
            <a:r>
              <a:rPr lang="fr-FR" dirty="0"/>
              <a:t>Extraction d’informations d’une image, interrogation TDHC avec ces informations, import des réponses  dans </a:t>
            </a:r>
            <a:r>
              <a:rPr lang="fr-FR" dirty="0" err="1"/>
              <a:t>MongoDb</a:t>
            </a:r>
            <a:r>
              <a:rPr lang="fr-FR" dirty="0"/>
              <a:t> (Option : génération d’une application web type CRUD).</a:t>
            </a:r>
          </a:p>
          <a:p>
            <a:pPr algn="just"/>
            <a:endParaRPr lang="fr-FR" dirty="0"/>
          </a:p>
          <a:p>
            <a:pPr algn="just"/>
            <a:endParaRPr lang="fr-FR" dirty="0"/>
          </a:p>
          <a:p>
            <a:pPr algn="just"/>
            <a:r>
              <a:rPr lang="fr-FR" dirty="0"/>
              <a:t>⚠️ </a:t>
            </a:r>
            <a:r>
              <a:rPr lang="fr-FR" b="1" dirty="0"/>
              <a:t>Points d’attention :</a:t>
            </a:r>
            <a:r>
              <a:rPr lang="fr-FR" dirty="0"/>
              <a:t> sécurité, coûts, contrôle des accès.</a:t>
            </a: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4992008-23CD-4A88-9E74-95C0C9679E6C}"/>
              </a:ext>
            </a:extLst>
          </p:cNvPr>
          <p:cNvSpPr/>
          <p:nvPr/>
        </p:nvSpPr>
        <p:spPr>
          <a:xfrm>
            <a:off x="91440" y="645160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https://github.com/</a:t>
            </a: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acoudene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/TDMCP</a:t>
            </a:r>
            <a:endParaRPr lang="en-US" sz="1200" dirty="0"/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9E368617-E2B3-0E77-34F0-6E60A0C5DB8C}"/>
              </a:ext>
            </a:extLst>
          </p:cNvPr>
          <p:cNvSpPr/>
          <p:nvPr/>
        </p:nvSpPr>
        <p:spPr>
          <a:xfrm>
            <a:off x="731518" y="144018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Niveaux</a:t>
            </a:r>
            <a:r>
              <a:rPr lang="en-US" sz="24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2400" b="1" dirty="0" err="1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</a:t>
            </a:r>
            <a:r>
              <a:rPr lang="en-US" sz="24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d’usage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1858104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r>
              <a:rPr lang="fr-FR" sz="2000" b="1" dirty="0">
                <a:solidFill>
                  <a:schemeClr val="bg1"/>
                </a:solidFill>
              </a:rPr>
              <a:t>🟢 Démo </a:t>
            </a: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r>
              <a:rPr lang="fr-FR" sz="2000" b="1" dirty="0">
                <a:solidFill>
                  <a:schemeClr val="bg1"/>
                </a:solidFill>
              </a:rPr>
              <a:t>Récupération de données patient depuis TDHC</a:t>
            </a:r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dirty="0"/>
              <a:t>🎯 </a:t>
            </a:r>
            <a:r>
              <a:rPr lang="en-US" sz="22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</a:t>
            </a:r>
            <a:r>
              <a:rPr lang="en-US" sz="2200" b="1" dirty="0" err="1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79" y="1283941"/>
            <a:ext cx="814282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Utiliser une saisie utilisateur pour récupérer des données patient depuis TDHC.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40079" y="2156272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✍️ </a:t>
            </a: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" y="4179179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Déroulé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39" y="4544939"/>
            <a:ext cx="7200433" cy="1203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43840" indent="-24384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Montrer TDHC : recherche de “John DOE” (Patient Search)</a:t>
            </a:r>
            <a:endParaRPr lang="en-US" dirty="0"/>
          </a:p>
          <a:p>
            <a:pPr marL="243840" indent="-24384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Montrer Claude Desktop en parallèle</a:t>
            </a:r>
            <a:endParaRPr lang="en-US" dirty="0"/>
          </a:p>
          <a:p>
            <a:pPr marL="243840" indent="-24384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Comparer les données (TDHC vs réponse du LLM)</a:t>
            </a:r>
            <a:endParaRPr lang="en-US" dirty="0"/>
          </a:p>
        </p:txBody>
      </p:sp>
      <p:sp>
        <p:nvSpPr>
          <p:cNvPr id="15" name="Shape 5">
            <a:extLst>
              <a:ext uri="{FF2B5EF4-FFF2-40B4-BE49-F238E27FC236}">
                <a16:creationId xmlns:a16="http://schemas.microsoft.com/office/drawing/2014/main" id="{646549DA-CC04-5661-9D74-7A59FE0C0D84}"/>
              </a:ext>
            </a:extLst>
          </p:cNvPr>
          <p:cNvSpPr/>
          <p:nvPr/>
        </p:nvSpPr>
        <p:spPr>
          <a:xfrm>
            <a:off x="777239" y="2763158"/>
            <a:ext cx="10566133" cy="8178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F2E842BB-CAC9-1067-DEB0-85D2164C716B}"/>
              </a:ext>
            </a:extLst>
          </p:cNvPr>
          <p:cNvSpPr/>
          <p:nvPr/>
        </p:nvSpPr>
        <p:spPr>
          <a:xfrm>
            <a:off x="1005840" y="2853074"/>
            <a:ext cx="10109200" cy="643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4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&gt; « Donne-moi les informations du patient de nom DOE et de prénom John »</a:t>
            </a:r>
          </a:p>
          <a:p>
            <a:pPr marL="0" indent="0">
              <a:buNone/>
            </a:pPr>
            <a:r>
              <a:rPr lang="fr-FR" sz="14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&gt; « Donne-moi la date de la première hospitalisation de John DOE »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7C8E0-FBAB-C6DB-CABA-D8A27BE2F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0C87978-31AC-24DC-B857-1FB4B3BCAB88}"/>
              </a:ext>
            </a:extLst>
          </p:cNvPr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F6767F16-04AC-89F1-B675-EC5D1FC98D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57" y="908964"/>
            <a:ext cx="12001029" cy="5085436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7A2C8FA9-627B-F3F1-AE6C-C878E1238855}"/>
              </a:ext>
            </a:extLst>
          </p:cNvPr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r>
              <a:rPr lang="fr-FR" sz="2000" b="1" dirty="0">
                <a:solidFill>
                  <a:schemeClr val="bg1"/>
                </a:solidFill>
              </a:rPr>
              <a:t>🟢 Démo </a:t>
            </a: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r>
              <a:rPr lang="fr-FR" sz="2000" b="1" dirty="0">
                <a:solidFill>
                  <a:schemeClr val="bg1"/>
                </a:solidFill>
              </a:rPr>
              <a:t>Récupération de données patient depuis TDHC</a:t>
            </a:r>
          </a:p>
        </p:txBody>
      </p:sp>
    </p:spTree>
    <p:extLst>
      <p:ext uri="{BB962C8B-B14F-4D97-AF65-F5344CB8AC3E}">
        <p14:creationId xmlns:p14="http://schemas.microsoft.com/office/powerpoint/2010/main" val="9656905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📋 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termes autour de l’IA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91886" y="960120"/>
            <a:ext cx="5430416" cy="2331720"/>
          </a:xfrm>
          <a:prstGeom prst="roundRect">
            <a:avLst/>
          </a:prstGeom>
          <a:solidFill>
            <a:srgbClr val="E6F0FF"/>
          </a:solidFill>
          <a:ln w="12700">
            <a:solidFill>
              <a:srgbClr val="CBD5E1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50240" y="1143000"/>
            <a:ext cx="47242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Prompt </a:t>
            </a:r>
            <a:r>
              <a:rPr lang="en-US" sz="2800" dirty="0"/>
              <a:t>✍️</a:t>
            </a:r>
          </a:p>
        </p:txBody>
      </p:sp>
      <p:sp>
        <p:nvSpPr>
          <p:cNvPr id="6" name="Text 4"/>
          <p:cNvSpPr/>
          <p:nvPr/>
        </p:nvSpPr>
        <p:spPr>
          <a:xfrm>
            <a:off x="650240" y="1701904"/>
            <a:ext cx="5034128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envoyée à l’IA.</a:t>
            </a:r>
            <a:endParaRPr lang="en-US" sz="1600" dirty="0"/>
          </a:p>
          <a:p>
            <a:pPr marL="0" indent="0" algn="just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Peut inclure une demande, du contexte et des </a:t>
            </a:r>
            <a:r>
              <a:rPr lang="en-US" sz="16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contraintes</a:t>
            </a: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0" indent="0" algn="just">
              <a:buNone/>
            </a:pPr>
            <a:endParaRPr lang="en-US" sz="1600" dirty="0"/>
          </a:p>
          <a:p>
            <a:pPr algn="just"/>
            <a:r>
              <a:rPr lang="en-US" sz="1600" dirty="0"/>
              <a:t>👉</a:t>
            </a: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qualité du prompt influence la réponse.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78727" y="960120"/>
            <a:ext cx="5364327" cy="2331720"/>
          </a:xfrm>
          <a:prstGeom prst="roundRect">
            <a:avLst/>
          </a:prstGeom>
          <a:solidFill>
            <a:srgbClr val="EEF6E6"/>
          </a:solidFill>
          <a:ln w="12700">
            <a:solidFill>
              <a:srgbClr val="CBD5E1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507328" y="1143000"/>
            <a:ext cx="47242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LLM </a:t>
            </a:r>
            <a:r>
              <a:rPr lang="en-US" sz="2800" dirty="0"/>
              <a:t>🧠</a:t>
            </a:r>
          </a:p>
        </p:txBody>
      </p:sp>
      <p:sp>
        <p:nvSpPr>
          <p:cNvPr id="9" name="Text 7"/>
          <p:cNvSpPr/>
          <p:nvPr/>
        </p:nvSpPr>
        <p:spPr>
          <a:xfrm>
            <a:off x="6507327" y="1600200"/>
            <a:ext cx="5034433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entraîné sur beaucoup de texte pour générer du </a:t>
            </a:r>
            <a:r>
              <a:rPr lang="en-US" sz="16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langage</a:t>
            </a: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0" indent="0" algn="just">
              <a:buNone/>
            </a:pPr>
            <a:endParaRPr lang="en-US" sz="1600" dirty="0"/>
          </a:p>
          <a:p>
            <a:pPr algn="just"/>
            <a:r>
              <a:rPr lang="en-US" sz="1600" dirty="0"/>
              <a:t>👉 </a:t>
            </a: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prédit les mots les plus probables (≠ compréhension humaine).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91886" y="3611880"/>
            <a:ext cx="5430416" cy="2331720"/>
          </a:xfrm>
          <a:prstGeom prst="roundRect">
            <a:avLst/>
          </a:prstGeom>
          <a:solidFill>
            <a:srgbClr val="FDEBD8"/>
          </a:solidFill>
          <a:ln w="12700">
            <a:solidFill>
              <a:srgbClr val="CBD5E1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50240" y="3794760"/>
            <a:ext cx="47242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Agent IA </a:t>
            </a:r>
            <a:r>
              <a:rPr lang="en-US" sz="2800" dirty="0"/>
              <a:t>🤖</a:t>
            </a:r>
          </a:p>
        </p:txBody>
      </p:sp>
      <p:sp>
        <p:nvSpPr>
          <p:cNvPr id="12" name="Text 10"/>
          <p:cNvSpPr/>
          <p:nvPr/>
        </p:nvSpPr>
        <p:spPr>
          <a:xfrm>
            <a:off x="650240" y="4414313"/>
            <a:ext cx="497840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 basé sur un LLM capable d’agir : planifier, utiliser des outils, enchaîner des étapes.</a:t>
            </a:r>
          </a:p>
          <a:p>
            <a:pPr marL="0" indent="0">
              <a:buNone/>
            </a:pPr>
            <a:endParaRPr lang="en-US" sz="1600" dirty="0"/>
          </a:p>
          <a:p>
            <a:r>
              <a:rPr lang="en-US" sz="1600" dirty="0"/>
              <a:t>👉 </a:t>
            </a: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LLM répond. Un agent agit.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78728" y="3611880"/>
            <a:ext cx="5364326" cy="2331720"/>
          </a:xfrm>
          <a:prstGeom prst="roundRect">
            <a:avLst/>
          </a:prstGeom>
          <a:solidFill>
            <a:srgbClr val="EFE9FF"/>
          </a:solidFill>
          <a:ln w="12700">
            <a:solidFill>
              <a:srgbClr val="CBD5E1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507328" y="3794760"/>
            <a:ext cx="47242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r>
              <a:rPr lang="en-US" sz="2800" b="1" dirty="0" err="1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Protocole</a:t>
            </a:r>
            <a:r>
              <a:rPr lang="en-US" sz="2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MCP</a:t>
            </a:r>
            <a:r>
              <a:rPr lang="en-US" sz="2800" dirty="0"/>
              <a:t>🔌</a:t>
            </a:r>
          </a:p>
        </p:txBody>
      </p:sp>
      <p:sp>
        <p:nvSpPr>
          <p:cNvPr id="15" name="Text 13"/>
          <p:cNvSpPr/>
          <p:nvPr/>
        </p:nvSpPr>
        <p:spPr>
          <a:xfrm>
            <a:off x="6507328" y="4343400"/>
            <a:ext cx="4871872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Protocole standard pour connecter l’IA à des outils et sources de données (API, base, docs).</a:t>
            </a:r>
          </a:p>
          <a:p>
            <a:pPr marL="0" indent="0">
              <a:buNone/>
            </a:pPr>
            <a:endParaRPr lang="en-US" sz="1600" dirty="0"/>
          </a:p>
          <a:p>
            <a:r>
              <a:rPr lang="en-US" sz="1600" dirty="0"/>
              <a:t>👉 </a:t>
            </a:r>
            <a:r>
              <a:rPr lang="en-US" sz="16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Définit</a:t>
            </a: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demandes, retours et exécution.</a:t>
            </a:r>
            <a:endParaRPr lang="en-US" sz="1600" dirty="0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F09BCE51-F713-CA95-EEC7-455BE5F71B48}"/>
              </a:ext>
            </a:extLst>
          </p:cNvPr>
          <p:cNvSpPr txBox="1"/>
          <p:nvPr/>
        </p:nvSpPr>
        <p:spPr>
          <a:xfrm rot="1771552">
            <a:off x="4529166" y="1064270"/>
            <a:ext cx="1585664" cy="5232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</a:t>
            </a:r>
            <a:r>
              <a:rPr lang="en-US" sz="14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</a:t>
            </a: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l’utilisateur</a:t>
            </a: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algn="ctr"/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</a:t>
            </a:r>
            <a:endParaRPr lang="en-US" sz="1400" dirty="0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13F91108-6FD8-FD63-E750-B311456B9D71}"/>
              </a:ext>
            </a:extLst>
          </p:cNvPr>
          <p:cNvSpPr txBox="1"/>
          <p:nvPr/>
        </p:nvSpPr>
        <p:spPr>
          <a:xfrm rot="1771552">
            <a:off x="10339144" y="3764326"/>
            <a:ext cx="1730975" cy="5232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</a:t>
            </a:r>
            <a:r>
              <a:rPr lang="en-US" sz="14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prise</a:t>
            </a: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“USB-C”</a:t>
            </a:r>
          </a:p>
          <a:p>
            <a:pPr algn="ctr"/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</a:t>
            </a:r>
            <a:r>
              <a:rPr lang="en-US" sz="14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l’IA</a:t>
            </a:r>
            <a:endParaRPr lang="en-US" sz="1400" dirty="0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572175CF-26EF-706F-86CD-465A95541A9E}"/>
              </a:ext>
            </a:extLst>
          </p:cNvPr>
          <p:cNvSpPr txBox="1"/>
          <p:nvPr/>
        </p:nvSpPr>
        <p:spPr>
          <a:xfrm rot="1771552">
            <a:off x="4509001" y="3583117"/>
            <a:ext cx="1730975" cy="7386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>
              <a:buSzPct val="100000"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LLM + </a:t>
            </a:r>
            <a:r>
              <a:rPr lang="en-US" sz="14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</a:t>
            </a: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</a:t>
            </a: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d’action</a:t>
            </a: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4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outils</a:t>
            </a: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étapes)</a:t>
            </a:r>
            <a:endParaRPr lang="en-US" sz="1400" dirty="0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7623F2D4-4A10-2D70-C727-85021E5A12F0}"/>
              </a:ext>
            </a:extLst>
          </p:cNvPr>
          <p:cNvSpPr txBox="1"/>
          <p:nvPr/>
        </p:nvSpPr>
        <p:spPr>
          <a:xfrm rot="1771552">
            <a:off x="10268638" y="899678"/>
            <a:ext cx="1730975" cy="5232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</a:t>
            </a:r>
            <a:r>
              <a:rPr lang="en-US" sz="14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moteur</a:t>
            </a: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linguistique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E6676-21B8-5241-D4F5-18CC2E4A2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06AA6FE-E5C8-5325-C5BE-37D88DA6F8BA}"/>
              </a:ext>
            </a:extLst>
          </p:cNvPr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70947A5-D833-25A9-1092-26B857E290B6}"/>
              </a:ext>
            </a:extLst>
          </p:cNvPr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⚙️ </a:t>
            </a:r>
            <a:r>
              <a:rPr lang="en-US" sz="2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</a:t>
            </a:r>
            <a:endParaRPr lang="en-US" sz="2000" dirty="0"/>
          </a:p>
        </p:txBody>
      </p:sp>
      <p:pic>
        <p:nvPicPr>
          <p:cNvPr id="27" name="Image 26">
            <a:extLst>
              <a:ext uri="{FF2B5EF4-FFF2-40B4-BE49-F238E27FC236}">
                <a16:creationId xmlns:a16="http://schemas.microsoft.com/office/drawing/2014/main" id="{E14444AA-C279-1B98-655A-8A103AA1A1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4097" y="-6773"/>
            <a:ext cx="51435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1447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⚙️ </a:t>
            </a:r>
            <a:r>
              <a:rPr lang="en-US" sz="2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960120" y="2564723"/>
            <a:ext cx="2145731" cy="685800"/>
          </a:xfrm>
          <a:prstGeom prst="roundRect">
            <a:avLst/>
          </a:prstGeom>
          <a:solidFill>
            <a:srgbClr val="E6F0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60120" y="2729315"/>
            <a:ext cx="214573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400" dirty="0"/>
              <a:t>👤 </a:t>
            </a:r>
            <a:r>
              <a:rPr lang="en-US" sz="2400" b="1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628257" y="2564723"/>
            <a:ext cx="2145731" cy="685800"/>
          </a:xfrm>
          <a:prstGeom prst="roundRect">
            <a:avLst/>
          </a:prstGeom>
          <a:solidFill>
            <a:srgbClr val="E0EC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589286" y="2697565"/>
            <a:ext cx="214573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800" dirty="0"/>
              <a:t>🧠 </a:t>
            </a: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/ IA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6524994" y="2564723"/>
            <a:ext cx="2145731" cy="685800"/>
          </a:xfrm>
          <a:prstGeom prst="roundRect">
            <a:avLst/>
          </a:prstGeom>
          <a:solidFill>
            <a:srgbClr val="EEF6E6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98222" y="2729315"/>
            <a:ext cx="214573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600" dirty="0"/>
              <a:t>🔌</a:t>
            </a: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9207158" y="2564723"/>
            <a:ext cx="2145731" cy="685800"/>
          </a:xfrm>
          <a:prstGeom prst="roundRect">
            <a:avLst/>
          </a:prstGeom>
          <a:solidFill>
            <a:srgbClr val="FDEBD8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207158" y="2630424"/>
            <a:ext cx="2145731" cy="604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800" dirty="0"/>
              <a:t>🔬 </a:t>
            </a: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TDHC</a:t>
            </a:r>
            <a:endParaRPr lang="en-US" sz="28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(SOAP)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636304" y="3643715"/>
            <a:ext cx="1463040" cy="777240"/>
          </a:xfrm>
          <a:prstGeom prst="roundRect">
            <a:avLst/>
          </a:prstGeom>
          <a:solidFill>
            <a:srgbClr val="EFE9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636304" y="3659632"/>
            <a:ext cx="1463039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b="1" dirty="0"/>
              <a:t>🛢️ </a:t>
            </a:r>
            <a:r>
              <a:rPr lang="en-US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</a:t>
            </a:r>
            <a:endParaRPr lang="en-US" b="1" dirty="0"/>
          </a:p>
        </p:txBody>
      </p:sp>
      <p:sp>
        <p:nvSpPr>
          <p:cNvPr id="15" name="Shape 13"/>
          <p:cNvSpPr/>
          <p:nvPr/>
        </p:nvSpPr>
        <p:spPr>
          <a:xfrm>
            <a:off x="3105851" y="2804753"/>
            <a:ext cx="522406" cy="0"/>
          </a:xfrm>
          <a:prstGeom prst="line">
            <a:avLst/>
          </a:prstGeom>
          <a:noFill/>
          <a:ln w="31750">
            <a:solidFill>
              <a:srgbClr val="2D6CDF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635534" y="2576153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635534" y="2781893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773988" y="2804753"/>
            <a:ext cx="751006" cy="0"/>
          </a:xfrm>
          <a:prstGeom prst="line">
            <a:avLst/>
          </a:prstGeom>
          <a:noFill/>
          <a:ln w="31750">
            <a:solidFill>
              <a:srgbClr val="6B728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17971" y="2576153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17971" y="2781893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670725" y="2907623"/>
            <a:ext cx="536433" cy="0"/>
          </a:xfrm>
          <a:prstGeom prst="line">
            <a:avLst/>
          </a:prstGeom>
          <a:noFill/>
          <a:ln w="31750">
            <a:solidFill>
              <a:srgbClr val="D97706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8207421" y="2679023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Routage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0280023" y="3250523"/>
            <a:ext cx="0" cy="393192"/>
          </a:xfrm>
          <a:prstGeom prst="line">
            <a:avLst/>
          </a:prstGeom>
          <a:noFill/>
          <a:ln w="31750">
            <a:solidFill>
              <a:srgbClr val="7C3AE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207158" y="3268811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Requêtes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120986" y="5813891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Analogie “USB‑C” : un protocole standard (MCP) pour brancher l’IA sur des outils métier</a:t>
            </a:r>
            <a:endParaRPr lang="en-US" sz="1200" dirty="0"/>
          </a:p>
        </p:txBody>
      </p:sp>
      <p:sp>
        <p:nvSpPr>
          <p:cNvPr id="30" name="Shape 23">
            <a:extLst>
              <a:ext uri="{FF2B5EF4-FFF2-40B4-BE49-F238E27FC236}">
                <a16:creationId xmlns:a16="http://schemas.microsoft.com/office/drawing/2014/main" id="{45F1F172-66C5-CAAF-59EE-F838AB846B96}"/>
              </a:ext>
            </a:extLst>
          </p:cNvPr>
          <p:cNvSpPr/>
          <p:nvPr/>
        </p:nvSpPr>
        <p:spPr>
          <a:xfrm>
            <a:off x="10409404" y="3250523"/>
            <a:ext cx="0" cy="393192"/>
          </a:xfrm>
          <a:prstGeom prst="line">
            <a:avLst/>
          </a:prstGeom>
          <a:noFill/>
          <a:ln w="31750">
            <a:solidFill>
              <a:srgbClr val="7C3AED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1">
            <a:extLst>
              <a:ext uri="{FF2B5EF4-FFF2-40B4-BE49-F238E27FC236}">
                <a16:creationId xmlns:a16="http://schemas.microsoft.com/office/drawing/2014/main" id="{5C383104-3FC4-F879-CA6E-9694C7BB1A4C}"/>
              </a:ext>
            </a:extLst>
          </p:cNvPr>
          <p:cNvSpPr/>
          <p:nvPr/>
        </p:nvSpPr>
        <p:spPr>
          <a:xfrm>
            <a:off x="8670725" y="3005881"/>
            <a:ext cx="536433" cy="0"/>
          </a:xfrm>
          <a:prstGeom prst="line">
            <a:avLst/>
          </a:prstGeom>
          <a:noFill/>
          <a:ln w="31750">
            <a:solidFill>
              <a:srgbClr val="D97706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17">
            <a:extLst>
              <a:ext uri="{FF2B5EF4-FFF2-40B4-BE49-F238E27FC236}">
                <a16:creationId xmlns:a16="http://schemas.microsoft.com/office/drawing/2014/main" id="{F03E9FFB-0937-163A-9053-8339DBAC1E97}"/>
              </a:ext>
            </a:extLst>
          </p:cNvPr>
          <p:cNvSpPr/>
          <p:nvPr/>
        </p:nvSpPr>
        <p:spPr>
          <a:xfrm>
            <a:off x="5773988" y="3050398"/>
            <a:ext cx="751006" cy="0"/>
          </a:xfrm>
          <a:prstGeom prst="line">
            <a:avLst/>
          </a:prstGeom>
          <a:noFill/>
          <a:ln w="31750">
            <a:solidFill>
              <a:srgbClr val="6B7280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13">
            <a:extLst>
              <a:ext uri="{FF2B5EF4-FFF2-40B4-BE49-F238E27FC236}">
                <a16:creationId xmlns:a16="http://schemas.microsoft.com/office/drawing/2014/main" id="{8D139570-72EB-0777-9139-C48808012E27}"/>
              </a:ext>
            </a:extLst>
          </p:cNvPr>
          <p:cNvSpPr/>
          <p:nvPr/>
        </p:nvSpPr>
        <p:spPr>
          <a:xfrm>
            <a:off x="3118100" y="3050398"/>
            <a:ext cx="522406" cy="0"/>
          </a:xfrm>
          <a:prstGeom prst="line">
            <a:avLst/>
          </a:prstGeom>
          <a:noFill/>
          <a:ln w="31750">
            <a:solidFill>
              <a:srgbClr val="2D6CDF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4EF49798-1488-FC65-5707-53B6B600DF54}"/>
              </a:ext>
            </a:extLst>
          </p:cNvPr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⚙️ </a:t>
            </a:r>
            <a:r>
              <a:rPr lang="en-US" sz="2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</a:t>
            </a:r>
            <a:endParaRPr lang="en-US" sz="2000" dirty="0"/>
          </a:p>
        </p:txBody>
      </p:sp>
      <p:pic>
        <p:nvPicPr>
          <p:cNvPr id="4" name="Image 0" descr="/mnt/data/LLM_IA_pilotant_TDH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8216" y="-5589"/>
            <a:ext cx="7214362" cy="684611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r>
              <a:rPr lang="fr-FR" sz="2000" b="1" dirty="0">
                <a:solidFill>
                  <a:schemeClr val="bg1"/>
                </a:solidFill>
              </a:rPr>
              <a:t>🟡 Démo </a:t>
            </a: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r>
              <a:rPr lang="en-US" sz="2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Informations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déduites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 IA</a:t>
            </a:r>
            <a:endParaRPr lang="fr-FR" sz="2000" b="1" dirty="0">
              <a:solidFill>
                <a:schemeClr val="bg1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10728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dirty="0"/>
              <a:t>🎯 </a:t>
            </a:r>
            <a:r>
              <a:rPr lang="en-US" sz="22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</a:t>
            </a:r>
            <a:r>
              <a:rPr lang="en-US" sz="2200" b="1" dirty="0" err="1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6613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Demander des informations que TDHC seul ne fournirait pas </a:t>
            </a: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directement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</a:t>
            </a: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regroupement, formatage (tableau), et plus encore !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31520" y="2372360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✍️ </a:t>
            </a: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19" y="2829560"/>
            <a:ext cx="10566133" cy="8178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60120" y="2919476"/>
            <a:ext cx="8539480" cy="643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&gt; “Donne-moi les demandes de John DOE et affiche-les sous forme de tableau”</a:t>
            </a:r>
            <a:endParaRPr lang="en-US" sz="1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&gt; “Fais-moi une synthèse médicale du </a:t>
            </a:r>
            <a:r>
              <a:rPr lang="en-US" sz="140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patient Zelda EHTAM”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31520" y="4163908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🧠 </a:t>
            </a: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fait le LLM en plus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60120" y="4535594"/>
            <a:ext cx="3429000" cy="1447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43840" indent="-24384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</a:t>
            </a:r>
            <a:endParaRPr lang="en-US" dirty="0"/>
          </a:p>
          <a:p>
            <a:pPr marL="243840" indent="-24384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Regroupe / reformate</a:t>
            </a:r>
            <a:endParaRPr lang="en-US" dirty="0"/>
          </a:p>
          <a:p>
            <a:pPr marL="243840" indent="-24384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Déduit / synthétise</a:t>
            </a:r>
            <a:endParaRPr lang="en-US" dirty="0"/>
          </a:p>
          <a:p>
            <a:pPr marL="243840" indent="-24384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Itère si besoin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🧠 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avec 2 APIs (SOAP + ODATA)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548639" y="872067"/>
            <a:ext cx="5143500" cy="2135293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77240" y="1082379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/>
              <a:t>🔬 </a:t>
            </a:r>
            <a:r>
              <a:rPr lang="en-US" sz="1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TDHC : 2 canaux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77239" y="1466427"/>
            <a:ext cx="4756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SOAP : API “patient” dédiée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ODATA : API générique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route vers le bon endpoint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LLM peut analyser puis rappeler (itérations)</a:t>
            </a:r>
            <a:endParaRPr lang="en-US" dirty="0"/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B4E7EE4F-700E-2CE9-17DB-BA65F98B3E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6837" y="-6773"/>
            <a:ext cx="51435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37396DA4-4D81-B136-ED0B-E4EE91208787}"/>
              </a:ext>
            </a:extLst>
          </p:cNvPr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⚙️ </a:t>
            </a:r>
            <a:r>
              <a:rPr lang="en-US" sz="2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</a:t>
            </a:r>
            <a:endParaRPr lang="en-US" sz="2000" dirty="0"/>
          </a:p>
        </p:txBody>
      </p:sp>
      <p:pic>
        <p:nvPicPr>
          <p:cNvPr id="4" name="Image 0" descr="/mnt/data/LLM_IA_pilotant_TDHC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6122" y="-8463"/>
            <a:ext cx="6286500" cy="684842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fr-FR" sz="2000" b="1" dirty="0">
                <a:solidFill>
                  <a:schemeClr val="bg1"/>
                </a:solidFill>
              </a:rPr>
              <a:t>🔴 Démo </a:t>
            </a: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Orchestration (image → TDHC → MongoDB)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dirty="0"/>
              <a:t>🎯 </a:t>
            </a:r>
            <a:r>
              <a:rPr lang="en-US" sz="22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</a:t>
            </a:r>
            <a:r>
              <a:rPr lang="en-US" sz="2200" b="1" dirty="0" err="1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19" y="1417320"/>
            <a:ext cx="7051041" cy="1397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partir d’une </a:t>
            </a:r>
            <a:r>
              <a:rPr lang="en-US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extraire les </a:t>
            </a:r>
            <a:r>
              <a:rPr lang="en-US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infos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interroger </a:t>
            </a:r>
            <a:r>
              <a:rPr lang="en-US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TDHC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puis </a:t>
            </a:r>
            <a:r>
              <a:rPr lang="en-US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persister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 résultat.</a:t>
            </a:r>
            <a:endParaRPr lang="en-US" dirty="0"/>
          </a:p>
          <a:p>
            <a:pPr marL="0" indent="0" algn="just">
              <a:buNone/>
            </a:pPr>
            <a:endParaRPr lang="en-US" dirty="0">
              <a:solidFill>
                <a:srgbClr val="0F172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just">
              <a:buNone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[Option] </a:t>
            </a: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Générer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/exposer une </a:t>
            </a:r>
            <a:r>
              <a:rPr lang="en-US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 CRUD 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Docker container.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31520" y="3845560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✍️ </a:t>
            </a: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83057" y="4224095"/>
            <a:ext cx="10625021" cy="1322493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124612" y="960120"/>
            <a:ext cx="3183467" cy="299400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253706" y="1170432"/>
            <a:ext cx="2825774" cy="2995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d’entrée</a:t>
            </a:r>
            <a:endParaRPr lang="en-US" sz="1600" dirty="0"/>
          </a:p>
        </p:txBody>
      </p:sp>
      <p:pic>
        <p:nvPicPr>
          <p:cNvPr id="11" name="Image 0" descr="/mnt/data/PatientDOEJohn.jpg"/>
          <p:cNvPicPr>
            <a:picLocks noChangeAspect="1"/>
          </p:cNvPicPr>
          <p:nvPr/>
        </p:nvPicPr>
        <p:blipFill>
          <a:blip r:embed="rId3"/>
          <a:srcRect l="-3975" t="-11595" r="-3975" b="-11595"/>
          <a:stretch>
            <a:fillRect/>
          </a:stretch>
        </p:blipFill>
        <p:spPr>
          <a:xfrm>
            <a:off x="8586244" y="1311412"/>
            <a:ext cx="2160697" cy="2465737"/>
          </a:xfrm>
          <a:prstGeom prst="rect">
            <a:avLst/>
          </a:prstGeom>
        </p:spPr>
      </p:pic>
      <p:sp>
        <p:nvSpPr>
          <p:cNvPr id="13" name="Text 6">
            <a:extLst>
              <a:ext uri="{FF2B5EF4-FFF2-40B4-BE49-F238E27FC236}">
                <a16:creationId xmlns:a16="http://schemas.microsoft.com/office/drawing/2014/main" id="{3F0AA9B8-0E2B-D283-0844-B814D4AF7BE4}"/>
              </a:ext>
            </a:extLst>
          </p:cNvPr>
          <p:cNvSpPr/>
          <p:nvPr/>
        </p:nvSpPr>
        <p:spPr>
          <a:xfrm>
            <a:off x="883922" y="4329081"/>
            <a:ext cx="10127119" cy="1112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4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&gt; « Extrait-moi les informations patient de cette image et donne-moi les données patient associées »</a:t>
            </a:r>
          </a:p>
          <a:p>
            <a:pPr marL="0" indent="0">
              <a:buNone/>
            </a:pPr>
            <a:r>
              <a:rPr lang="fr-FR" sz="14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&gt; « Extrait via </a:t>
            </a:r>
            <a:r>
              <a:rPr lang="fr-FR" sz="14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MarkItDown</a:t>
            </a:r>
            <a:r>
              <a:rPr lang="fr-FR" sz="14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, récupère via TDMCP et enregistre dans MongoDB (MCP Toolkit) »</a:t>
            </a:r>
          </a:p>
          <a:p>
            <a:pPr marL="0" indent="0">
              <a:buNone/>
            </a:pPr>
            <a:r>
              <a:rPr lang="fr-FR" sz="14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&gt; [Option] « Expose une appli CRUD dans un container (port 9999) »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5C0A2-D16E-F2C6-9955-BE7EF97C5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0">
            <a:extLst>
              <a:ext uri="{FF2B5EF4-FFF2-40B4-BE49-F238E27FC236}">
                <a16:creationId xmlns:a16="http://schemas.microsoft.com/office/drawing/2014/main" id="{E1D6CA86-CC5D-449E-586C-BDE4EF4C0B51}"/>
              </a:ext>
            </a:extLst>
          </p:cNvPr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AFA7BB9-3339-F904-0F6A-98F370205389}"/>
              </a:ext>
            </a:extLst>
          </p:cNvPr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🧠 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Multi-MCP</a:t>
            </a:r>
            <a:endParaRPr lang="en-US" sz="2000" dirty="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6DA7F8C7-2929-3C0B-322D-271853D7A7C5}"/>
              </a:ext>
            </a:extLst>
          </p:cNvPr>
          <p:cNvSpPr/>
          <p:nvPr/>
        </p:nvSpPr>
        <p:spPr>
          <a:xfrm>
            <a:off x="548638" y="872067"/>
            <a:ext cx="5366589" cy="1965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CDCE095E-2361-2AF1-B8BE-61DDDD79CA81}"/>
              </a:ext>
            </a:extLst>
          </p:cNvPr>
          <p:cNvSpPr/>
          <p:nvPr/>
        </p:nvSpPr>
        <p:spPr>
          <a:xfrm>
            <a:off x="777240" y="1082379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/>
              <a:t>🔬 </a:t>
            </a:r>
            <a:r>
              <a:rPr lang="en-US" sz="1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TDHC : 2 canaux</a:t>
            </a:r>
            <a:endParaRPr lang="en-US" sz="1800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D281906C-86C3-A34D-B434-93032D870C32}"/>
              </a:ext>
            </a:extLst>
          </p:cNvPr>
          <p:cNvSpPr/>
          <p:nvPr/>
        </p:nvSpPr>
        <p:spPr>
          <a:xfrm>
            <a:off x="777239" y="1466427"/>
            <a:ext cx="4881881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SOAP : API “patient” dédiée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ODATA : API générique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route vers le bon endpoint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LLM peut analyser puis rappeler (itérations)</a:t>
            </a:r>
            <a:endParaRPr lang="en-US" dirty="0"/>
          </a:p>
        </p:txBody>
      </p:sp>
      <p:sp>
        <p:nvSpPr>
          <p:cNvPr id="4" name="Shape 28">
            <a:extLst>
              <a:ext uri="{FF2B5EF4-FFF2-40B4-BE49-F238E27FC236}">
                <a16:creationId xmlns:a16="http://schemas.microsoft.com/office/drawing/2014/main" id="{34764CC0-4D83-F70A-7999-6CD3F9D3B47E}"/>
              </a:ext>
            </a:extLst>
          </p:cNvPr>
          <p:cNvSpPr/>
          <p:nvPr/>
        </p:nvSpPr>
        <p:spPr>
          <a:xfrm>
            <a:off x="548640" y="3112347"/>
            <a:ext cx="5366587" cy="1871133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9">
            <a:extLst>
              <a:ext uri="{FF2B5EF4-FFF2-40B4-BE49-F238E27FC236}">
                <a16:creationId xmlns:a16="http://schemas.microsoft.com/office/drawing/2014/main" id="{CF985E02-9F64-0C21-BAF2-ED93A7609BEA}"/>
              </a:ext>
            </a:extLst>
          </p:cNvPr>
          <p:cNvSpPr/>
          <p:nvPr/>
        </p:nvSpPr>
        <p:spPr>
          <a:xfrm>
            <a:off x="777241" y="3329432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/>
              <a:t>🐳</a:t>
            </a:r>
            <a:r>
              <a:rPr lang="en-US" sz="1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MCP Toolkit : n canaux</a:t>
            </a:r>
            <a:endParaRPr lang="en-US" sz="1800" dirty="0"/>
          </a:p>
        </p:txBody>
      </p:sp>
      <p:sp>
        <p:nvSpPr>
          <p:cNvPr id="6" name="Text 30">
            <a:extLst>
              <a:ext uri="{FF2B5EF4-FFF2-40B4-BE49-F238E27FC236}">
                <a16:creationId xmlns:a16="http://schemas.microsoft.com/office/drawing/2014/main" id="{33F3F4EF-DF53-1214-130B-D1242D645CDE}"/>
              </a:ext>
            </a:extLst>
          </p:cNvPr>
          <p:cNvSpPr/>
          <p:nvPr/>
        </p:nvSpPr>
        <p:spPr>
          <a:xfrm>
            <a:off x="777240" y="3706707"/>
            <a:ext cx="5003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Orchestre les </a:t>
            </a: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appels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MCP (gateway)</a:t>
            </a:r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Assure la gestion de </a:t>
            </a: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l’authentification</a:t>
            </a:r>
            <a:endParaRPr lang="en-US" dirty="0">
              <a:solidFill>
                <a:srgbClr val="0F172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</a:t>
            </a: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relation les MCP Clients avec les </a:t>
            </a: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serveurs</a:t>
            </a:r>
            <a:endParaRPr lang="en-US" dirty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B102A188-43AD-D522-50DE-8DB48E6A71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5548" y="-6773"/>
            <a:ext cx="51435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1330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📌 </a:t>
            </a:r>
            <a:r>
              <a:rPr lang="en-US" sz="2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Prérequis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(démo MongoDB via Docker)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Lancer MongoDB (Docker)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1234440"/>
            <a:ext cx="10728655" cy="1234440"/>
          </a:xfrm>
          <a:prstGeom prst="roundRect">
            <a:avLst/>
          </a:prstGeom>
          <a:solidFill>
            <a:srgbClr val="0B1220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60120" y="1389888"/>
            <a:ext cx="102714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-d --name mongodb -p 27017:27017 \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 -e MONGO_INITDB_ROOT_USERNAME=admin \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 -e MONGO_INITDB_ROOT_PASSWORD=password mongo:latest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47980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strings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31520" y="3845560"/>
            <a:ext cx="10728655" cy="19202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60120" y="4055872"/>
            <a:ext cx="10271455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F172A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• MCP Toolkit : mongodb://admin:password@host.docker.internal:27017/?authSource=admin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solidFill>
                <a:srgbClr val="0F172A"/>
              </a:solidFill>
              <a:latin typeface="Consolas" panose="020B0609020204030204" pitchFamily="49" charset="0"/>
              <a:ea typeface="Courier New" pitchFamily="34" charset="-122"/>
              <a:cs typeface="Courier New" pitchFamily="34" charset="-120"/>
            </a:endParaRPr>
          </a:p>
          <a:p>
            <a:pPr marL="0" indent="0">
              <a:buNone/>
            </a:pPr>
            <a:r>
              <a:rPr lang="en-US" dirty="0">
                <a:solidFill>
                  <a:srgbClr val="0F172A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• Compass : </a:t>
            </a:r>
          </a:p>
          <a:p>
            <a:pPr marL="0" indent="0">
              <a:buNone/>
            </a:pPr>
            <a:r>
              <a:rPr lang="en-US" dirty="0">
                <a:solidFill>
                  <a:srgbClr val="0F172A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mongodb://admin:password@localhost:27017</a:t>
            </a:r>
            <a:endParaRPr lang="en-US" dirty="0"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r>
              <a:rPr lang="fr-FR" sz="2000" dirty="0">
                <a:solidFill>
                  <a:schemeClr val="bg1"/>
                </a:solidFill>
              </a:rPr>
              <a:t>⚠️ Démo – </a:t>
            </a:r>
            <a:r>
              <a:rPr lang="fr-FR" sz="2000" b="1" dirty="0">
                <a:solidFill>
                  <a:schemeClr val="bg1"/>
                </a:solidFill>
              </a:rPr>
              <a:t>Points d’attention :</a:t>
            </a:r>
            <a:r>
              <a:rPr lang="fr-FR" sz="2000" dirty="0">
                <a:solidFill>
                  <a:schemeClr val="bg1"/>
                </a:solidFill>
              </a:rPr>
              <a:t> sécurité, coûts, contrôle des accès.</a:t>
            </a:r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10728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dirty="0"/>
              <a:t>🎯 </a:t>
            </a:r>
            <a:r>
              <a:rPr lang="en-US" sz="22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</a:t>
            </a:r>
            <a:r>
              <a:rPr lang="en-US" sz="2200" b="1" dirty="0" err="1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207008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Montrer les risques : exfiltration de secrets, accès non prévu, sur‑coûts, manque de garde‑fous.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731519" y="3822192"/>
            <a:ext cx="10728655" cy="25142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60119" y="4086353"/>
            <a:ext cx="986344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fr-FR" dirty="0">
                <a:solidFill>
                  <a:schemeClr val="bg1"/>
                </a:solidFill>
              </a:rPr>
              <a:t>⚠️ </a:t>
            </a:r>
            <a:r>
              <a:rPr lang="en-US" sz="1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de vigilance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18" y="4571322"/>
            <a:ext cx="9863441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 d’accès aux outils (MCP) : “least privilege”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Journalisation &amp; traçabilité des actions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Filtrage / masquage des secrets (mots de passe, tokens)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Limiter le périmètre et le coût (quotas, timeouts)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d’injection (prompt injection) et validation des entrées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731518" y="2348407"/>
            <a:ext cx="10728655" cy="65008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18" y="1872919"/>
            <a:ext cx="9753323" cy="299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/>
              <a:t>✍️ </a:t>
            </a: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60119" y="2284063"/>
            <a:ext cx="9651726" cy="7144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&gt; “Montre-moi toutes les informations de connexion de </a:t>
            </a:r>
            <a:r>
              <a:rPr lang="en-US" sz="14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l’utilisateur</a:t>
            </a:r>
            <a:r>
              <a:rPr lang="en-US" sz="14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DBL”</a:t>
            </a:r>
            <a:endParaRPr lang="en-US" sz="1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&gt; “Extrait-moi les champs PASSWORDS avec leur login des 10 premiers </a:t>
            </a:r>
            <a:r>
              <a:rPr lang="en-US" sz="14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utilisateurs</a:t>
            </a:r>
            <a:r>
              <a:rPr lang="en-US" sz="14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”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339809" y="3034207"/>
            <a:ext cx="5709951" cy="3572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/>
              <a:t>👉</a:t>
            </a:r>
            <a:r>
              <a:rPr lang="en-US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Objectif : vérifier qu’on bloque / masque / refuse.</a:t>
            </a:r>
            <a:endParaRPr lang="en-US" b="1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FF910-AE4C-5E27-C000-6E6E0B4B1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9FF12E2-D79F-D2D5-D8D0-5162608C9AE4}"/>
              </a:ext>
            </a:extLst>
          </p:cNvPr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E8C9B62-15D6-710D-9D48-5F487B11C271}"/>
              </a:ext>
            </a:extLst>
          </p:cNvPr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🔄 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migration — Orchestration (TDHC → MongoDB →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 WebApp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EA753EE-D9FC-3D23-442A-F946D28528BA}"/>
              </a:ext>
            </a:extLst>
          </p:cNvPr>
          <p:cNvSpPr/>
          <p:nvPr/>
        </p:nvSpPr>
        <p:spPr>
          <a:xfrm>
            <a:off x="731520" y="767080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🎯 </a:t>
            </a:r>
            <a:r>
              <a:rPr lang="en-US" sz="22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de migration</a:t>
            </a:r>
            <a:endParaRPr lang="en-US" sz="2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FB44387-93C2-4B9A-E1FB-854AAFAA5415}"/>
              </a:ext>
            </a:extLst>
          </p:cNvPr>
          <p:cNvSpPr/>
          <p:nvPr/>
        </p:nvSpPr>
        <p:spPr>
          <a:xfrm>
            <a:off x="731519" y="1163320"/>
            <a:ext cx="10698481" cy="45720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de données de TDHC, les exporter vers MongoDB </a:t>
            </a: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puis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générer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application Web type CRUD </a:t>
            </a: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connectée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 </a:t>
            </a: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données MongoDB.</a:t>
            </a:r>
            <a:endParaRPr lang="en-US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2AC7F09-3DAA-2E3B-FADD-0B694BE9E157}"/>
              </a:ext>
            </a:extLst>
          </p:cNvPr>
          <p:cNvSpPr/>
          <p:nvPr/>
        </p:nvSpPr>
        <p:spPr>
          <a:xfrm>
            <a:off x="731520" y="1866900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✍️ </a:t>
            </a: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20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80EEB7E1-F950-1356-40B4-95EE260BABFE}"/>
              </a:ext>
            </a:extLst>
          </p:cNvPr>
          <p:cNvSpPr/>
          <p:nvPr/>
        </p:nvSpPr>
        <p:spPr>
          <a:xfrm>
            <a:off x="731520" y="2275839"/>
            <a:ext cx="10698480" cy="4414209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0192CE8-7B20-C7A0-C8B4-51D8FE5C663A}"/>
              </a:ext>
            </a:extLst>
          </p:cNvPr>
          <p:cNvSpPr/>
          <p:nvPr/>
        </p:nvSpPr>
        <p:spPr>
          <a:xfrm>
            <a:off x="1212957" y="2423160"/>
            <a:ext cx="8733476" cy="42211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&gt; 1.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Extrais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les 20 premiers patients de TDMCP via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l'API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OData (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utilise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mcp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__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TDMCP_Claude_Code__query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sur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l'entité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PATIENTS avec top=20)</a:t>
            </a:r>
          </a:p>
          <a:p>
            <a:pPr marL="0" indent="0">
              <a:buNone/>
            </a:pPr>
            <a:endParaRPr lang="en-US" sz="1000" dirty="0">
              <a:solidFill>
                <a:srgbClr val="0F172A"/>
              </a:solidFill>
              <a:latin typeface="Consolas" panose="020B0609020204030204" pitchFamily="49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2.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Insère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ces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patients dans MongoDB MCP Toolkit: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- Base: healthcare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- Collection: patients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-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Utilise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mcp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__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MCP_DOCKER__create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-collection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puis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mcp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__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MCP_DOCKER__insert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-many</a:t>
            </a:r>
          </a:p>
          <a:p>
            <a:pPr marL="0" indent="0">
              <a:buNone/>
            </a:pPr>
            <a:endParaRPr lang="en-US" sz="1000" dirty="0">
              <a:solidFill>
                <a:srgbClr val="0F172A"/>
              </a:solidFill>
              <a:latin typeface="Consolas" panose="020B0609020204030204" pitchFamily="49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3.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Crée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une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application web CRUD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Dockerisée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sur le port 9999: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-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Crée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un dossier patient-crud-docker/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-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Fichiers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à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créer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  *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package.json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(express +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mongodb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dependencies - version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simplifiée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sans MongoDB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si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problèmes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d'auth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  * server.js (API REST Express avec stockage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fichier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JSON)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  * index.html (interface web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moderne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avec CRUD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complet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  * patients-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data.json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(données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initiales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des 20 patients extraits)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  *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Dockerfile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(Node 18 Alpine)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- Build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l'image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Docker: docker build -t patient-crud-app .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- Lance le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conteneur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: docker run -d --name patient-crud-container -p 9999:9999 patient-crud-app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-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Vérifie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les logs: docker logs patient-crud-container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- Teste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l'API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: curl http://localhost:9999/api/patients</a:t>
            </a:r>
          </a:p>
          <a:p>
            <a:pPr marL="0" indent="0">
              <a:buNone/>
            </a:pPr>
            <a:endParaRPr lang="en-US" sz="1000" dirty="0">
              <a:solidFill>
                <a:srgbClr val="0F172A"/>
              </a:solidFill>
              <a:latin typeface="Consolas" panose="020B0609020204030204" pitchFamily="49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IMPORTANT: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- NE PAS installer de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dépendances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localement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npm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install local)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- Tout doit être dans le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conteneur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Docker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- Si MongoDB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nécessite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authentification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utilise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un stockage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fichier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JSON simple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Crée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TOUS les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fichiers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nécessaires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une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seule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fois</a:t>
            </a:r>
            <a:endParaRPr lang="en-US" sz="1000" dirty="0">
              <a:solidFill>
                <a:srgbClr val="0F172A"/>
              </a:solidFill>
              <a:latin typeface="Consolas" panose="020B0609020204030204" pitchFamily="49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- Build et lance le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conteneur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directement</a:t>
            </a:r>
            <a:endParaRPr lang="en-US" sz="1000" dirty="0">
              <a:solidFill>
                <a:srgbClr val="0F172A"/>
              </a:solidFill>
              <a:latin typeface="Consolas" panose="020B0609020204030204" pitchFamily="49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- Affiche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l'URL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finale: http://localhost:9999</a:t>
            </a:r>
            <a:endParaRPr lang="en-US" sz="1000" i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46411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C6EEF-0A5D-BA33-58D3-D9CD30148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F80CE3-D157-2863-BC93-F3590B87EA5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31384035-A1C3-3BB0-7B6C-83BBF9750E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52272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90B44EB-D150-4EA2-5540-4F0F2B72EA5C}"/>
              </a:ext>
            </a:extLst>
          </p:cNvPr>
          <p:cNvSpPr txBox="1"/>
          <p:nvPr/>
        </p:nvSpPr>
        <p:spPr>
          <a:xfrm>
            <a:off x="6103013" y="2477708"/>
            <a:ext cx="5429623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x</a:t>
            </a:r>
            <a:r>
              <a:rPr sz="5400" b="1" dirty="0">
                <a:solidFill>
                  <a:srgbClr val="1F3B5B"/>
                </a:solidFill>
                <a:latin typeface="Arial"/>
              </a:rPr>
              <a:t> </a:t>
            </a:r>
            <a:r>
              <a:rPr lang="en-US" sz="6000" b="1" dirty="0">
                <a:solidFill>
                  <a:srgbClr val="1F3B5B"/>
                </a:solidFill>
                <a:latin typeface="Arial"/>
              </a:rPr>
              <a:t>Questions ?</a:t>
            </a:r>
            <a:endParaRPr sz="6000" b="1" dirty="0">
              <a:solidFill>
                <a:srgbClr val="1F3B5B"/>
              </a:solidFill>
              <a:latin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3D5DDC-8117-1564-4521-D1CDFDB04EFC}"/>
              </a:ext>
            </a:extLst>
          </p:cNvPr>
          <p:cNvSpPr txBox="1"/>
          <p:nvPr/>
        </p:nvSpPr>
        <p:spPr>
          <a:xfrm>
            <a:off x="9766363" y="5547665"/>
            <a:ext cx="2238112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dirty="0">
                <a:latin typeface="Arial"/>
              </a:rPr>
              <a:t>Anthony Coudène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623DF1-69D3-3C10-EC39-99BE29BB53D8}"/>
              </a:ext>
            </a:extLst>
          </p:cNvPr>
          <p:cNvSpPr txBox="1"/>
          <p:nvPr/>
        </p:nvSpPr>
        <p:spPr>
          <a:xfrm>
            <a:off x="11020841" y="5865361"/>
            <a:ext cx="98296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dirty="0">
                <a:latin typeface="Arial"/>
              </a:rPr>
              <a:t>23/02/26</a:t>
            </a:r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85D80ABF-ACC2-6C0A-8793-51C87444EC8B}"/>
              </a:ext>
            </a:extLst>
          </p:cNvPr>
          <p:cNvSpPr/>
          <p:nvPr/>
        </p:nvSpPr>
        <p:spPr>
          <a:xfrm>
            <a:off x="8942147" y="6400273"/>
            <a:ext cx="324985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https://github.com/</a:t>
            </a: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acoudene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/TDMCP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5857266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2776364523B304ABC7CD1287CD641EF" ma:contentTypeVersion="16" ma:contentTypeDescription="Create a new document." ma:contentTypeScope="" ma:versionID="050895b2417a16e1724be928bca4df2b">
  <xsd:schema xmlns:xsd="http://www.w3.org/2001/XMLSchema" xmlns:xs="http://www.w3.org/2001/XMLSchema" xmlns:p="http://schemas.microsoft.com/office/2006/metadata/properties" xmlns:ns3="4c9a34c4-a9d6-4e6c-bef9-30326f0b5268" xmlns:ns4="2e18fd24-1e72-4026-afc1-ad0e4ee2cd8f" targetNamespace="http://schemas.microsoft.com/office/2006/metadata/properties" ma:root="true" ma:fieldsID="12160486c5d71f109b62abadcb75c07a" ns3:_="" ns4:_="">
    <xsd:import namespace="4c9a34c4-a9d6-4e6c-bef9-30326f0b5268"/>
    <xsd:import namespace="2e18fd24-1e72-4026-afc1-ad0e4ee2cd8f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MediaServiceDateTaken" minOccurs="0"/>
                <xsd:element ref="ns4:MediaLengthInSeconds" minOccurs="0"/>
                <xsd:element ref="ns4:MediaServiceLocation" minOccurs="0"/>
                <xsd:element ref="ns4:_activity" minOccurs="0"/>
                <xsd:element ref="ns4:MediaServiceObjectDetectorVersions" minOccurs="0"/>
                <xsd:element ref="ns4:MediaServiceSystemTags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c9a34c4-a9d6-4e6c-bef9-30326f0b5268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e18fd24-1e72-4026-afc1-ad0e4ee2cd8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19" nillable="true" ma:displayName="Location" ma:description="" ma:indexed="true" ma:internalName="MediaServiceLocation" ma:readOnly="true">
      <xsd:simpleType>
        <xsd:restriction base="dms:Text"/>
      </xsd:simpleType>
    </xsd:element>
    <xsd:element name="_activity" ma:index="20" nillable="true" ma:displayName="_activity" ma:hidden="true" ma:internalName="_activity">
      <xsd:simpleType>
        <xsd:restriction base="dms:Note"/>
      </xsd:simpleType>
    </xsd:element>
    <xsd:element name="MediaServiceObjectDetectorVersions" ma:index="2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2e18fd24-1e72-4026-afc1-ad0e4ee2cd8f" xsi:nil="true"/>
  </documentManagement>
</p:properties>
</file>

<file path=customXml/itemProps1.xml><?xml version="1.0" encoding="utf-8"?>
<ds:datastoreItem xmlns:ds="http://schemas.openxmlformats.org/officeDocument/2006/customXml" ds:itemID="{5DAE53FC-7667-41C7-BC23-BF46ADA4102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c9a34c4-a9d6-4e6c-bef9-30326f0b5268"/>
    <ds:schemaRef ds:uri="2e18fd24-1e72-4026-afc1-ad0e4ee2cd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C867A6B-7373-4DAC-A865-27CA1836C0C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EB8E7CF-9C39-4E12-98C2-FCE8FA8F8B22}">
  <ds:schemaRefs>
    <ds:schemaRef ds:uri="4c9a34c4-a9d6-4e6c-bef9-30326f0b5268"/>
    <ds:schemaRef ds:uri="http://schemas.microsoft.com/office/2006/metadata/properties"/>
    <ds:schemaRef ds:uri="http://purl.org/dc/terms/"/>
    <ds:schemaRef ds:uri="http://purl.org/dc/elements/1.1/"/>
    <ds:schemaRef ds:uri="http://purl.org/dc/dcmitype/"/>
    <ds:schemaRef ds:uri="http://schemas.microsoft.com/office/2006/documentManagement/types"/>
    <ds:schemaRef ds:uri="2e18fd24-1e72-4026-afc1-ad0e4ee2cd8f"/>
    <ds:schemaRef ds:uri="http://schemas.openxmlformats.org/package/2006/metadata/core-properties"/>
    <ds:schemaRef ds:uri="http://schemas.microsoft.com/office/infopath/2007/PartnerControl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1901</Words>
  <Application>Microsoft Office PowerPoint</Application>
  <PresentationFormat>Grand écran</PresentationFormat>
  <Paragraphs>212</Paragraphs>
  <Slides>18</Slides>
  <Notes>16</Notes>
  <HiddenSlides>1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Consolas</vt:lpstr>
      <vt:lpstr>Courier New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Anthony COUDENE</cp:lastModifiedBy>
  <cp:revision>123</cp:revision>
  <dcterms:created xsi:type="dcterms:W3CDTF">2026-02-18T16:01:41Z</dcterms:created>
  <dcterms:modified xsi:type="dcterms:W3CDTF">2026-02-20T19:48:53Z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0x01010092776364523B304ABC7CD1287CD641EF</vt:lpwstr>
  </property>
  <property fmtid="{D5CDD505-2E9C-101B-9397-08002B2CF9AE}" pid="3" name="MSIP_Label_07f9bbfb-d1f7-44d1-8752-acf9d4902a22_Enabled">
    <vt:lpwstr>true</vt:lpwstr>
  </property>
  <property fmtid="{D5CDD505-2E9C-101B-9397-08002B2CF9AE}" pid="4" name="MSIP_Label_07f9bbfb-d1f7-44d1-8752-acf9d4902a22_SetDate">
    <vt:lpwstr>2026-02-20T19:47:45Z</vt:lpwstr>
  </property>
  <property fmtid="{D5CDD505-2E9C-101B-9397-08002B2CF9AE}" pid="5" name="MSIP_Label_07f9bbfb-d1f7-44d1-8752-acf9d4902a22_Method">
    <vt:lpwstr>Privileged</vt:lpwstr>
  </property>
  <property fmtid="{D5CDD505-2E9C-101B-9397-08002B2CF9AE}" pid="6" name="MSIP_Label_07f9bbfb-d1f7-44d1-8752-acf9d4902a22_Name">
    <vt:lpwstr>Interne</vt:lpwstr>
  </property>
  <property fmtid="{D5CDD505-2E9C-101B-9397-08002B2CF9AE}" pid="7" name="MSIP_Label_07f9bbfb-d1f7-44d1-8752-acf9d4902a22_SiteId">
    <vt:lpwstr>f1353830-7531-4499-9f5d-eb7d51aa678e</vt:lpwstr>
  </property>
  <property fmtid="{D5CDD505-2E9C-101B-9397-08002B2CF9AE}" pid="8" name="MSIP_Label_07f9bbfb-d1f7-44d1-8752-acf9d4902a22_ActionId">
    <vt:lpwstr>e25ff745-de99-455a-97da-b3375c6bbfe8</vt:lpwstr>
  </property>
  <property fmtid="{D5CDD505-2E9C-101B-9397-08002B2CF9AE}" pid="9" name="MSIP_Label_07f9bbfb-d1f7-44d1-8752-acf9d4902a22_ContentBits">
    <vt:lpwstr>0</vt:lpwstr>
  </property>
  <property fmtid="{D5CDD505-2E9C-101B-9397-08002B2CF9AE}" pid="10" name="MSIP_Label_07f9bbfb-d1f7-44d1-8752-acf9d4902a22_Tag">
    <vt:lpwstr>10, 0, 1, 1</vt:lpwstr>
  </property>
</Properties>
</file>