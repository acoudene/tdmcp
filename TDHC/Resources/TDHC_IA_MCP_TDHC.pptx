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56" r:id="rId5"/>
    <p:sldId id="273" r:id="rId6"/>
    <p:sldId id="271" r:id="rId7"/>
    <p:sldId id="257" r:id="rId8"/>
    <p:sldId id="270" r:id="rId9"/>
    <p:sldId id="258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  <p:sldId id="272" r:id="rId21"/>
    <p:sldId id="27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CD42-F522-406F-762F-73452D0C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A21B5-33E9-39BF-F601-B6ADFD07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17406-16E9-3DC0-D3D3-C9B637AC0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AE6D6-CC2A-6852-A089-02C670E77E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32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8A2AF-F6E5-69BE-35BD-71845ADB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40870-D099-382A-3CBD-EF60C8991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2616A-3238-4BB7-3555-F0B853BEA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FDAA-E15C-5C95-E7EA-4E660E167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9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62A6-EAC6-172C-7126-0EA50C0B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C67FD1-72ED-148B-3186-2834E458D877}"/>
              </a:ext>
            </a:extLst>
          </p:cNvPr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F8A7A7E-8C41-2829-AEFE-8B176CEA55F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438827-60F9-79D6-8469-41A79AD466F1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✨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74CB52-5A62-7CF8-3F6C-46D71DF9C945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0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20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B3E45D-D2AD-9007-EC00-A23B1F8E324D}"/>
              </a:ext>
            </a:extLst>
          </p:cNvPr>
          <p:cNvSpPr/>
          <p:nvPr/>
        </p:nvSpPr>
        <p:spPr>
          <a:xfrm>
            <a:off x="1005840" y="2057400"/>
            <a:ext cx="10180015" cy="2977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concrets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développés sur nos produits.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l’intégration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applicatif avec l’IA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avec peu ou pas de modifications.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complexes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impliquant des workflows avancés.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évidence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ajoutée de l’IA sur nos données brutes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enjeux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937F31-D8BF-4E3A-5194-2FCB76EF0E39}"/>
              </a:ext>
            </a:extLst>
          </p:cNvPr>
          <p:cNvSpPr/>
          <p:nvPr/>
        </p:nvSpPr>
        <p:spPr>
          <a:xfrm>
            <a:off x="1005840" y="2606040"/>
            <a:ext cx="10180015" cy="325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F37F231-6DCA-5291-EACA-6E965EA7F473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3466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📅 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3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37" y="2080724"/>
            <a:ext cx="10180015" cy="39748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fr-FR" b="1" dirty="0"/>
              <a:t>🟢 Cas simple</a:t>
            </a:r>
          </a:p>
          <a:p>
            <a:pPr algn="just"/>
            <a:r>
              <a:rPr lang="fr-FR" dirty="0"/>
              <a:t>Récupération de données patient depuis TDHC.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🟡 Cas intermédiaire</a:t>
            </a:r>
          </a:p>
          <a:p>
            <a:pPr algn="just"/>
            <a:r>
              <a:rPr lang="fr-FR" dirty="0"/>
              <a:t>Demande d’informations « déduites » ou enrichies par le LLM à partir des données disponibles.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🔴 Cas complexe</a:t>
            </a:r>
          </a:p>
          <a:p>
            <a:pPr algn="just"/>
            <a:r>
              <a:rPr lang="fr-FR" dirty="0"/>
              <a:t>Extraction d’informations d’une image, interrogation TDHC avec ces informations, import des réponses  dans </a:t>
            </a:r>
            <a:r>
              <a:rPr lang="fr-FR" dirty="0" err="1"/>
              <a:t>MongoDb</a:t>
            </a:r>
            <a:r>
              <a:rPr lang="fr-FR" dirty="0"/>
              <a:t> (Option : génération d’une application web type CRUD).</a:t>
            </a:r>
          </a:p>
          <a:p>
            <a:pPr algn="just"/>
            <a:endParaRPr lang="fr-FR" dirty="0"/>
          </a:p>
          <a:p>
            <a:pPr algn="just"/>
            <a:endParaRPr lang="fr-FR" dirty="0"/>
          </a:p>
          <a:p>
            <a:pPr algn="just"/>
            <a:r>
              <a:rPr lang="fr-FR" dirty="0"/>
              <a:t>⚠️ </a:t>
            </a:r>
            <a:r>
              <a:rPr lang="fr-FR" b="1" dirty="0"/>
              <a:t>Points d’attention :</a:t>
            </a:r>
            <a:r>
              <a:rPr lang="fr-FR" dirty="0"/>
              <a:t> sécurité, coûts, contrôle des accès.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9E368617-E2B3-0E77-34F0-6E60A0C5DB8C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283941"/>
            <a:ext cx="81428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79" y="215627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79179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39" y="4544939"/>
            <a:ext cx="7200433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646549DA-CC04-5661-9D74-7A59FE0C0D84}"/>
              </a:ext>
            </a:extLst>
          </p:cNvPr>
          <p:cNvSpPr/>
          <p:nvPr/>
        </p:nvSpPr>
        <p:spPr>
          <a:xfrm>
            <a:off x="777239" y="2763158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2E842BB-CAC9-1067-DEB0-85D2164C716B}"/>
              </a:ext>
            </a:extLst>
          </p:cNvPr>
          <p:cNvSpPr/>
          <p:nvPr/>
        </p:nvSpPr>
        <p:spPr>
          <a:xfrm>
            <a:off x="1005840" y="2853074"/>
            <a:ext cx="1010920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les informations du patient de nom DOE et de prénom John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la date de la première hospitalisation de John DOE 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A2C8FA9-627B-F3F1-AE6C-C878E1238855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📋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91886" y="960120"/>
            <a:ext cx="5430416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024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Prompt </a:t>
            </a:r>
            <a:r>
              <a:rPr lang="en-US" sz="2800" dirty="0"/>
              <a:t>✍️</a:t>
            </a:r>
          </a:p>
        </p:txBody>
      </p:sp>
      <p:sp>
        <p:nvSpPr>
          <p:cNvPr id="6" name="Text 4"/>
          <p:cNvSpPr/>
          <p:nvPr/>
        </p:nvSpPr>
        <p:spPr>
          <a:xfrm>
            <a:off x="650240" y="1701904"/>
            <a:ext cx="503412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600" dirty="0"/>
          </a:p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qualité du prompt influence la réponse.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78727" y="960120"/>
            <a:ext cx="5364327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LLM </a:t>
            </a:r>
            <a:r>
              <a:rPr lang="en-US" sz="2800" dirty="0"/>
              <a:t>🧠</a:t>
            </a:r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503443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1886" y="3611880"/>
            <a:ext cx="5430416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24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IA </a:t>
            </a:r>
            <a:r>
              <a:rPr lang="en-US" sz="2800" dirty="0"/>
              <a:t>🤖</a:t>
            </a:r>
          </a:p>
        </p:txBody>
      </p:sp>
      <p:sp>
        <p:nvSpPr>
          <p:cNvPr id="12" name="Text 10"/>
          <p:cNvSpPr/>
          <p:nvPr/>
        </p:nvSpPr>
        <p:spPr>
          <a:xfrm>
            <a:off x="650240" y="4414313"/>
            <a:ext cx="4978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364326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28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</a:t>
            </a:r>
            <a:r>
              <a:rPr lang="en-US" sz="2800" dirty="0"/>
              <a:t>🔌</a:t>
            </a:r>
          </a:p>
        </p:txBody>
      </p:sp>
      <p:sp>
        <p:nvSpPr>
          <p:cNvPr id="15" name="Text 13"/>
          <p:cNvSpPr/>
          <p:nvPr/>
        </p:nvSpPr>
        <p:spPr>
          <a:xfrm>
            <a:off x="6507328" y="434340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demandes, retours et exécution.</a:t>
            </a:r>
            <a:endParaRPr lang="en-US" sz="16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09BCE51-F713-CA95-EEC7-455BE5F71B48}"/>
              </a:ext>
            </a:extLst>
          </p:cNvPr>
          <p:cNvSpPr txBox="1"/>
          <p:nvPr/>
        </p:nvSpPr>
        <p:spPr>
          <a:xfrm rot="1771552">
            <a:off x="4529166" y="1064270"/>
            <a:ext cx="1585664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14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3F91108-6FD8-FD63-E750-B311456B9D71}"/>
              </a:ext>
            </a:extLst>
          </p:cNvPr>
          <p:cNvSpPr txBox="1"/>
          <p:nvPr/>
        </p:nvSpPr>
        <p:spPr>
          <a:xfrm rot="1771552">
            <a:off x="10339144" y="3764326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“USB-C”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</a:t>
            </a:r>
            <a:endParaRPr lang="en-US" sz="14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2175CF-26EF-706F-86CD-465A95541A9E}"/>
              </a:ext>
            </a:extLst>
          </p:cNvPr>
          <p:cNvSpPr txBox="1"/>
          <p:nvPr/>
        </p:nvSpPr>
        <p:spPr>
          <a:xfrm rot="1771552">
            <a:off x="4509001" y="3583117"/>
            <a:ext cx="173097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buSzPct val="100000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+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d’action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étapes)</a:t>
            </a:r>
            <a:endParaRPr lang="en-US" sz="1400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623F2D4-4A10-2D70-C727-85021E5A12F0}"/>
              </a:ext>
            </a:extLst>
          </p:cNvPr>
          <p:cNvSpPr txBox="1"/>
          <p:nvPr/>
        </p:nvSpPr>
        <p:spPr>
          <a:xfrm rot="1771552">
            <a:off x="10268638" y="899678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linguistique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60120" y="2564723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/>
              <a:t>👤 </a:t>
            </a:r>
            <a:r>
              <a:rPr lang="en-US" sz="24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28257" y="2564723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89286" y="269756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🧠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524994" y="2564723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98222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600" dirty="0"/>
              <a:t>🔌</a:t>
            </a: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07158" y="2564723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2630424"/>
            <a:ext cx="2145731" cy="604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🔬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28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3643715"/>
            <a:ext cx="1463040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3659632"/>
            <a:ext cx="14630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/>
              <a:t>🛢️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b="1" dirty="0"/>
          </a:p>
        </p:txBody>
      </p:sp>
      <p:sp>
        <p:nvSpPr>
          <p:cNvPr id="15" name="Shape 13"/>
          <p:cNvSpPr/>
          <p:nvPr/>
        </p:nvSpPr>
        <p:spPr>
          <a:xfrm>
            <a:off x="3105851" y="2804753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2804753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2907623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267902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3268811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005881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050398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050398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EF49798-1488-FC65-5707-53B6B600DF5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16" y="-5589"/>
            <a:ext cx="7214362" cy="68461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🟡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déduites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IA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661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regroupement, formatage (tableau), et plus encore !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2372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829560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919476"/>
            <a:ext cx="853948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“Donne-moi les demandes de John DOE et affiche-les sous forme de tableau”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“Fais-moi une synthèse médicale du </a:t>
            </a:r>
            <a:r>
              <a:rPr lang="en-US" sz="140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patient Zelda EHTAM”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41639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5143500" cy="213529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756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7396DA4-4D81-B136-ED0B-E4EE91208787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122" y="-8463"/>
            <a:ext cx="6286500" cy="68484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2000" b="1" dirty="0">
                <a:solidFill>
                  <a:schemeClr val="bg1"/>
                </a:solidFill>
              </a:rPr>
              <a:t>🔴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Orchestration (image → TDHC → MongoDB)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417320"/>
            <a:ext cx="7051041" cy="139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extraire les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interroger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puis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résultat.</a:t>
            </a:r>
            <a:endParaRPr lang="en-US" dirty="0"/>
          </a:p>
          <a:p>
            <a:pPr marL="0" indent="0" algn="just">
              <a:buNone/>
            </a:pP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[Option]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/exposer 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 CRUD 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Docker container.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38455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3057" y="4224095"/>
            <a:ext cx="10625021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24612" y="960120"/>
            <a:ext cx="3183467" cy="29940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5370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586244" y="1311412"/>
            <a:ext cx="2160697" cy="2465737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3F0AA9B8-0E2B-D283-0844-B814D4AF7BE4}"/>
              </a:ext>
            </a:extLst>
          </p:cNvPr>
          <p:cNvSpPr/>
          <p:nvPr/>
        </p:nvSpPr>
        <p:spPr>
          <a:xfrm>
            <a:off x="883922" y="4329081"/>
            <a:ext cx="10127119" cy="1112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Extrait-moi les informations patient de cette image et donne-moi les données patient associées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 via </a:t>
            </a:r>
            <a:r>
              <a:rPr lang="fr-FR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MarkItDown</a:t>
            </a: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récupère via TDMCP et enregistre dans MongoDB (MCP Toolkit)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[Option] « Expose une appli CRUD dans un container (port 9999) 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1D6CA86-CC5D-449E-586C-BDE4EF4C0B51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8" y="872067"/>
            <a:ext cx="536658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88188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5366587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🐳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5003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54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📌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4798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84556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405587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F172A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Compass : </a:t>
            </a: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mongodb://admin:password@localhost:27017</a:t>
            </a:r>
            <a:endParaRPr lang="en-US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dirty="0">
                <a:solidFill>
                  <a:schemeClr val="bg1"/>
                </a:solidFill>
              </a:rPr>
              <a:t>⚠️ Démo – </a:t>
            </a:r>
            <a:r>
              <a:rPr lang="fr-FR" sz="2000" b="1" dirty="0">
                <a:solidFill>
                  <a:schemeClr val="bg1"/>
                </a:solidFill>
              </a:rPr>
              <a:t>Points d’attention :</a:t>
            </a:r>
            <a:r>
              <a:rPr lang="fr-FR" sz="2000" dirty="0">
                <a:solidFill>
                  <a:schemeClr val="bg1"/>
                </a:solidFill>
              </a:rPr>
              <a:t> sécurité, coûts, contrôle des accès.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19" y="3822192"/>
            <a:ext cx="10728655" cy="2514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19" y="4086353"/>
            <a:ext cx="98634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dirty="0">
                <a:solidFill>
                  <a:schemeClr val="bg1"/>
                </a:solidFill>
              </a:rPr>
              <a:t>⚠️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18" y="4571322"/>
            <a:ext cx="9863441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31518" y="2348407"/>
            <a:ext cx="10728655" cy="65008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18" y="1872919"/>
            <a:ext cx="9753323" cy="299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19" y="2284063"/>
            <a:ext cx="9651726" cy="7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“Montre-moi toutes les informations de connexion de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“Extrait-moi les champs PASSWORDS avec leur login des 10 premiers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1520" y="2981918"/>
            <a:ext cx="5709951" cy="357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👉</a:t>
            </a:r>
            <a:r>
              <a:rPr lang="en-US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Objectif : vérifier qu’on bloque / masque / refuse.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FF910-AE4C-5E27-C000-6E6E0B4B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FF12E2-D79F-D2D5-D8D0-5162608C9AE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8C9B62-15D6-710D-9D48-5F487B11C271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🔄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migration — Orchestration (TDHC → MongoDB →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WebApp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A753EE-D9FC-3D23-442A-F946D28528BA}"/>
              </a:ext>
            </a:extLst>
          </p:cNvPr>
          <p:cNvSpPr/>
          <p:nvPr/>
        </p:nvSpPr>
        <p:spPr>
          <a:xfrm>
            <a:off x="731520" y="7670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migration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B44387-93C2-4B9A-E1FB-854AAFAA5415}"/>
              </a:ext>
            </a:extLst>
          </p:cNvPr>
          <p:cNvSpPr/>
          <p:nvPr/>
        </p:nvSpPr>
        <p:spPr>
          <a:xfrm>
            <a:off x="731519" y="1163320"/>
            <a:ext cx="10698481" cy="457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données de TDHC, les exporter vers MongoDB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type CRUD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connectée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MongoDB.</a:t>
            </a:r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C7F09-3DAA-2E3B-FADD-0B694BE9E157}"/>
              </a:ext>
            </a:extLst>
          </p:cNvPr>
          <p:cNvSpPr/>
          <p:nvPr/>
        </p:nvSpPr>
        <p:spPr>
          <a:xfrm>
            <a:off x="731520" y="18669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0EEB7E1-F950-1356-40B4-95EE260BABFE}"/>
              </a:ext>
            </a:extLst>
          </p:cNvPr>
          <p:cNvSpPr/>
          <p:nvPr/>
        </p:nvSpPr>
        <p:spPr>
          <a:xfrm>
            <a:off x="731520" y="2275839"/>
            <a:ext cx="10698480" cy="441420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192CE8-7B20-C7A0-C8B4-51D8FE5C663A}"/>
              </a:ext>
            </a:extLst>
          </p:cNvPr>
          <p:cNvSpPr/>
          <p:nvPr/>
        </p:nvSpPr>
        <p:spPr>
          <a:xfrm>
            <a:off x="1212957" y="2423160"/>
            <a:ext cx="8733476" cy="422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1.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Extrais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20 premiers patients de TDMCP via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OData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TDMCP_Claude_Code__query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avec top=20)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Insère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dans MongoDB MCP Toolkit: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Base: healthcare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Collection: patients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MCP_DOCKER__create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-collection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MCP_DOCKER__insert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-many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application web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Dockerisée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le port 9999: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dossier patient-crud-docker/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package.json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(express +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mongodb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dependencies - version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simplifiée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sans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problèmes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d'auth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server.js (API REST Express avec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index.html (interface web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moderne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avec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complet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patients-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data.json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(données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initiales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des 20 patients extraits)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Dockerfile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(Node 18 Alpine)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Build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Docker: docker build -t patient-crud-app 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docker run -d --name patient-crud-container -p 9999:9999 patient-crud-app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Vérifie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logs: docker logs patient-crud-container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Teste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curl http://localhost:9999/api/patients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IMPORTANT: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NE PAS installer de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dépendances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localement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install local)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Tout doit être dans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Si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nécessite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authentification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 simple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TOUS les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nécessaires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seule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fois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Build et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directement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Affiche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l'URL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finale: http://localhost:9999</a:t>
            </a:r>
            <a:endParaRPr lang="en-US" sz="1000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641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6EEF-0A5D-BA33-58D3-D9CD30148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F80CE3-D157-2863-BC93-F3590B87EA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1384035-A1C3-3BB0-7B6C-83BBF9750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0B44EB-D150-4EA2-5540-4F0F2B72EA5C}"/>
              </a:ext>
            </a:extLst>
          </p:cNvPr>
          <p:cNvSpPr txBox="1"/>
          <p:nvPr/>
        </p:nvSpPr>
        <p:spPr>
          <a:xfrm>
            <a:off x="6103013" y="2477708"/>
            <a:ext cx="542962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lang="en-US" sz="6000" b="1" dirty="0">
                <a:solidFill>
                  <a:srgbClr val="1F3B5B"/>
                </a:solidFill>
                <a:latin typeface="Arial"/>
              </a:rPr>
              <a:t>Questions ?</a:t>
            </a:r>
            <a:endParaRPr sz="6000" b="1" dirty="0">
              <a:solidFill>
                <a:srgbClr val="1F3B5B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D5DDC-8117-1564-4521-D1CDFDB04EFC}"/>
              </a:ext>
            </a:extLst>
          </p:cNvPr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23DF1-69D3-3C10-EC39-99BE29BB53D8}"/>
              </a:ext>
            </a:extLst>
          </p:cNvPr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5D80ABF-ACC2-6C0A-8793-51C87444EC8B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85726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1901</Words>
  <Application>Microsoft Office PowerPoint</Application>
  <PresentationFormat>Grand écran</PresentationFormat>
  <Paragraphs>212</Paragraphs>
  <Slides>18</Slides>
  <Notes>16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Anthony COUDENE</cp:lastModifiedBy>
  <cp:revision>124</cp:revision>
  <dcterms:created xsi:type="dcterms:W3CDTF">2026-02-18T16:01:41Z</dcterms:created>
  <dcterms:modified xsi:type="dcterms:W3CDTF">2026-02-20T19:55:40Z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  <property fmtid="{D5CDD505-2E9C-101B-9397-08002B2CF9AE}" pid="3" name="MSIP_Label_07f9bbfb-d1f7-44d1-8752-acf9d4902a22_Enabled">
    <vt:lpwstr>true</vt:lpwstr>
  </property>
  <property fmtid="{D5CDD505-2E9C-101B-9397-08002B2CF9AE}" pid="4" name="MSIP_Label_07f9bbfb-d1f7-44d1-8752-acf9d4902a22_SetDate">
    <vt:lpwstr>2026-02-20T19:47:45Z</vt:lpwstr>
  </property>
  <property fmtid="{D5CDD505-2E9C-101B-9397-08002B2CF9AE}" pid="5" name="MSIP_Label_07f9bbfb-d1f7-44d1-8752-acf9d4902a22_Method">
    <vt:lpwstr>Privileged</vt:lpwstr>
  </property>
  <property fmtid="{D5CDD505-2E9C-101B-9397-08002B2CF9AE}" pid="6" name="MSIP_Label_07f9bbfb-d1f7-44d1-8752-acf9d4902a22_Name">
    <vt:lpwstr>Interne</vt:lpwstr>
  </property>
  <property fmtid="{D5CDD505-2E9C-101B-9397-08002B2CF9AE}" pid="7" name="MSIP_Label_07f9bbfb-d1f7-44d1-8752-acf9d4902a22_SiteId">
    <vt:lpwstr>f1353830-7531-4499-9f5d-eb7d51aa678e</vt:lpwstr>
  </property>
  <property fmtid="{D5CDD505-2E9C-101B-9397-08002B2CF9AE}" pid="8" name="MSIP_Label_07f9bbfb-d1f7-44d1-8752-acf9d4902a22_ActionId">
    <vt:lpwstr>e25ff745-de99-455a-97da-b3375c6bbfe8</vt:lpwstr>
  </property>
  <property fmtid="{D5CDD505-2E9C-101B-9397-08002B2CF9AE}" pid="9" name="MSIP_Label_07f9bbfb-d1f7-44d1-8752-acf9d4902a22_ContentBits">
    <vt:lpwstr>0</vt:lpwstr>
  </property>
  <property fmtid="{D5CDD505-2E9C-101B-9397-08002B2CF9AE}" pid="10" name="MSIP_Label_07f9bbfb-d1f7-44d1-8752-acf9d4902a22_Tag">
    <vt:lpwstr>10, 0, 1, 1</vt:lpwstr>
  </property>
</Properties>
</file>